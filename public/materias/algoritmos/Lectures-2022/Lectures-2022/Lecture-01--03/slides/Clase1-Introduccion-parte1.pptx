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64" r:id="rId3"/>
    <p:sldId id="256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284" r:id="rId15"/>
    <p:sldId id="295" r:id="rId16"/>
    <p:sldId id="291" r:id="rId17"/>
    <p:sldId id="296" r:id="rId18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0"/>
    <p:restoredTop sz="94643"/>
  </p:normalViewPr>
  <p:slideViewPr>
    <p:cSldViewPr>
      <p:cViewPr varScale="1">
        <p:scale>
          <a:sx n="120" d="100"/>
          <a:sy n="120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19/4/22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38B1-1131-4F2F-904D-E26946682827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6961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19/4/22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4/19/22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3.png"/><Relationship Id="rId21" Type="http://schemas.openxmlformats.org/officeDocument/2006/relationships/image" Target="../media/image13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14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2.png"/><Relationship Id="rId20" Type="http://schemas.openxmlformats.org/officeDocument/2006/relationships/image" Target="../media/image136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141.png"/><Relationship Id="rId32" Type="http://schemas.openxmlformats.org/officeDocument/2006/relationships/image" Target="../media/image148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139.png"/><Relationship Id="rId28" Type="http://schemas.openxmlformats.org/officeDocument/2006/relationships/image" Target="../media/image144.png"/><Relationship Id="rId10" Type="http://schemas.openxmlformats.org/officeDocument/2006/relationships/image" Target="../media/image56.png"/><Relationship Id="rId19" Type="http://schemas.openxmlformats.org/officeDocument/2006/relationships/image" Target="../media/image135.png"/><Relationship Id="rId31" Type="http://schemas.openxmlformats.org/officeDocument/2006/relationships/image" Target="../media/image147.png"/><Relationship Id="rId4" Type="http://schemas.openxmlformats.org/officeDocument/2006/relationships/image" Target="../media/image134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138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7" Type="http://schemas.openxmlformats.org/officeDocument/2006/relationships/image" Target="../media/image1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34.png"/><Relationship Id="rId7" Type="http://schemas.openxmlformats.org/officeDocument/2006/relationships/image" Target="../media/image1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2843808" y="2060848"/>
            <a:ext cx="7254071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Introducción a la Programación</a:t>
            </a:r>
          </a:p>
          <a:p>
            <a:pPr algn="ctr"/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Modelización</a:t>
            </a:r>
            <a:r>
              <a:rPr lang="en-US" sz="2000" dirty="0"/>
              <a:t> de </a:t>
            </a:r>
            <a:r>
              <a:rPr lang="en-US" sz="2000" dirty="0" err="1"/>
              <a:t>problemas</a:t>
            </a:r>
            <a:r>
              <a:rPr lang="en-US" sz="2000" dirty="0"/>
              <a:t> del </a:t>
            </a:r>
            <a:r>
              <a:rPr lang="en-US" sz="2000" dirty="0" err="1"/>
              <a:t>mundo</a:t>
            </a:r>
            <a:r>
              <a:rPr lang="en-US" sz="2000" dirty="0"/>
              <a:t> real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Etapas</a:t>
            </a:r>
            <a:r>
              <a:rPr lang="en-US" sz="2000" dirty="0"/>
              <a:t> de la </a:t>
            </a:r>
            <a:r>
              <a:rPr lang="en-US" sz="2000" dirty="0" err="1"/>
              <a:t>resolución</a:t>
            </a:r>
            <a:r>
              <a:rPr lang="en-US" sz="2000" dirty="0"/>
              <a:t> de </a:t>
            </a:r>
            <a:r>
              <a:rPr lang="en-US" sz="2000" dirty="0" err="1"/>
              <a:t>problemas</a:t>
            </a:r>
            <a:r>
              <a:rPr lang="en-US" sz="2000" dirty="0"/>
              <a:t> con </a:t>
            </a:r>
            <a:r>
              <a:rPr lang="en-US" sz="2000" dirty="0" err="1"/>
              <a:t>computadoras</a:t>
            </a:r>
            <a:r>
              <a:rPr lang="en-US" sz="2000" dirty="0"/>
              <a:t>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Lenguajes</a:t>
            </a:r>
            <a:r>
              <a:rPr lang="en-US" sz="2000" dirty="0"/>
              <a:t> de </a:t>
            </a:r>
            <a:r>
              <a:rPr lang="en-US" sz="2000" dirty="0" err="1"/>
              <a:t>programación</a:t>
            </a:r>
            <a:r>
              <a:rPr lang="en-US" sz="2000" dirty="0"/>
              <a:t>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Algoritmos</a:t>
            </a:r>
            <a:r>
              <a:rPr lang="en-US" sz="2000" dirty="0"/>
              <a:t>:  </a:t>
            </a:r>
            <a:r>
              <a:rPr lang="en-US" sz="2000" dirty="0" err="1"/>
              <a:t>Qué</a:t>
            </a:r>
            <a:r>
              <a:rPr lang="en-US" sz="2000" dirty="0"/>
              <a:t> </a:t>
            </a:r>
            <a:r>
              <a:rPr lang="en-US" sz="2000" dirty="0" err="1"/>
              <a:t>es</a:t>
            </a:r>
            <a:r>
              <a:rPr lang="en-US" sz="2000" dirty="0"/>
              <a:t> un </a:t>
            </a:r>
            <a:r>
              <a:rPr lang="en-US" sz="2000" dirty="0" err="1"/>
              <a:t>algoritmo</a:t>
            </a:r>
            <a:r>
              <a:rPr lang="en-US" sz="2000" dirty="0"/>
              <a:t>?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Asignación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Secuencia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Decisión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Repetición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Selección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Iteración</a:t>
            </a:r>
            <a:r>
              <a:rPr lang="en-US" sz="2000" dirty="0"/>
              <a:t> </a:t>
            </a:r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Contenido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b="1" dirty="0" err="1"/>
              <a:t>analizar</a:t>
            </a:r>
            <a:r>
              <a:rPr lang="en-US" dirty="0"/>
              <a:t> el </a:t>
            </a:r>
            <a:r>
              <a:rPr lang="en-US" dirty="0" err="1"/>
              <a:t>Problema</a:t>
            </a:r>
            <a:r>
              <a:rPr lang="en-US" dirty="0"/>
              <a:t>,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b="1" dirty="0" err="1"/>
              <a:t>Abstracción</a:t>
            </a:r>
            <a:r>
              <a:rPr lang="en-US" dirty="0"/>
              <a:t> y </a:t>
            </a:r>
            <a:r>
              <a:rPr lang="en-US" b="1" dirty="0" err="1"/>
              <a:t>simplificar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expresión</a:t>
            </a:r>
            <a:r>
              <a:rPr lang="en-US" dirty="0"/>
              <a:t> </a:t>
            </a:r>
            <a:r>
              <a:rPr lang="en-US" dirty="0" err="1"/>
              <a:t>tratando</a:t>
            </a:r>
            <a:r>
              <a:rPr lang="en-US" dirty="0"/>
              <a:t> de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aspectos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 que se </a:t>
            </a:r>
            <a:r>
              <a:rPr lang="en-US" dirty="0" err="1"/>
              <a:t>pueden</a:t>
            </a:r>
            <a:r>
              <a:rPr lang="en-US" dirty="0"/>
              <a:t> resolver (</a:t>
            </a:r>
            <a:r>
              <a:rPr lang="en-US" b="1" dirty="0" err="1"/>
              <a:t>requerimientos</a:t>
            </a:r>
            <a:r>
              <a:rPr lang="en-US" dirty="0"/>
              <a:t>),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b="1" dirty="0" err="1"/>
              <a:t>datos</a:t>
            </a:r>
            <a:r>
              <a:rPr lang="en-US" dirty="0"/>
              <a:t> que se </a:t>
            </a:r>
            <a:r>
              <a:rPr lang="en-US" dirty="0" err="1"/>
              <a:t>han</a:t>
            </a:r>
            <a:r>
              <a:rPr lang="en-US" dirty="0"/>
              <a:t> de </a:t>
            </a:r>
            <a:r>
              <a:rPr lang="en-US" dirty="0" err="1"/>
              <a:t>procesar</a:t>
            </a:r>
            <a:r>
              <a:rPr lang="en-US" dirty="0"/>
              <a:t> y el </a:t>
            </a:r>
            <a:r>
              <a:rPr lang="en-US" b="1" dirty="0" err="1"/>
              <a:t>contexto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. 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6574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Modelización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problemas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del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mundo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real: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203AA-FAA1-8E48-B1AC-49315AD9A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068960"/>
            <a:ext cx="6638724" cy="361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2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 lang="en-US" sz="2000" dirty="0"/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592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Etapas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la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Resolución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Problemas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E6A76-624C-9144-8373-FD1C514D7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95408"/>
            <a:ext cx="3901553" cy="2073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344E17-F73E-744E-A685-6A5356E38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12" y="3751944"/>
            <a:ext cx="3773958" cy="1922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93C5B4-8BC3-B14F-8558-D16C2BB7C9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688847"/>
            <a:ext cx="3869383" cy="19587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F377DE0-2D0C-724E-BCD6-6BEF94A9C6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76" y="3668850"/>
            <a:ext cx="3567293" cy="18685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479CF7-E6E2-F94F-BE13-BCDE69A84B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70" y="5620526"/>
            <a:ext cx="3958082" cy="122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 </a:t>
            </a:r>
            <a:r>
              <a:rPr lang="en-US" dirty="0" err="1"/>
              <a:t>lenguaje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un </a:t>
            </a:r>
            <a:r>
              <a:rPr lang="en-US" u="sng" dirty="0"/>
              <a:t>conjunto de </a:t>
            </a:r>
            <a:r>
              <a:rPr lang="en-US" u="sng" dirty="0" err="1"/>
              <a:t>símbolos</a:t>
            </a:r>
            <a:r>
              <a:rPr lang="en-US" u="sng" dirty="0"/>
              <a:t> y </a:t>
            </a:r>
            <a:r>
              <a:rPr lang="en-US" u="sng" dirty="0" err="1"/>
              <a:t>reglas</a:t>
            </a:r>
            <a:r>
              <a:rPr lang="en-US" u="sng" dirty="0"/>
              <a:t> </a:t>
            </a:r>
            <a:r>
              <a:rPr lang="en-US" u="sng" dirty="0" err="1"/>
              <a:t>sintácticas</a:t>
            </a:r>
            <a:r>
              <a:rPr lang="en-US" u="sng" dirty="0"/>
              <a:t> y </a:t>
            </a:r>
            <a:r>
              <a:rPr lang="en-US" u="sng" dirty="0" err="1"/>
              <a:t>semánticas</a:t>
            </a:r>
            <a:r>
              <a:rPr lang="en-US" dirty="0"/>
              <a:t> que </a:t>
            </a:r>
            <a:r>
              <a:rPr lang="en-US" dirty="0" err="1"/>
              <a:t>definen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y el </a:t>
            </a:r>
            <a:r>
              <a:rPr lang="en-US" dirty="0" err="1"/>
              <a:t>significado</a:t>
            </a:r>
            <a:r>
              <a:rPr lang="en-US" dirty="0"/>
              <a:t> de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y </a:t>
            </a:r>
            <a:r>
              <a:rPr lang="en-US" dirty="0" err="1"/>
              <a:t>expresiones</a:t>
            </a:r>
            <a:r>
              <a:rPr lang="en-US" dirty="0"/>
              <a:t>.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utilizado</a:t>
            </a:r>
            <a:r>
              <a:rPr lang="en-US" dirty="0"/>
              <a:t> para </a:t>
            </a:r>
            <a:r>
              <a:rPr lang="en-US" dirty="0" err="1"/>
              <a:t>controlar</a:t>
            </a:r>
            <a:r>
              <a:rPr lang="en-US" dirty="0"/>
              <a:t> el </a:t>
            </a:r>
            <a:r>
              <a:rPr lang="en-US" dirty="0" err="1"/>
              <a:t>comportamiento</a:t>
            </a:r>
            <a:r>
              <a:rPr lang="en-US" dirty="0"/>
              <a:t> </a:t>
            </a:r>
            <a:r>
              <a:rPr lang="en-US" dirty="0" err="1"/>
              <a:t>físico</a:t>
            </a:r>
            <a:r>
              <a:rPr lang="en-US" dirty="0"/>
              <a:t> y </a:t>
            </a:r>
            <a:r>
              <a:rPr lang="en-US" dirty="0" err="1"/>
              <a:t>lógico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máquina</a:t>
            </a:r>
            <a:r>
              <a:rPr lang="en-US" dirty="0"/>
              <a:t>. 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4406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Lenguajes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Programación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F0E3F-AD86-2E44-90AD-208F6D2B0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8" y="2914825"/>
            <a:ext cx="9144000" cy="394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 </a:t>
            </a:r>
            <a:r>
              <a:rPr lang="en-US" b="1" dirty="0" err="1"/>
              <a:t>algoritmo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la “</a:t>
            </a:r>
            <a:r>
              <a:rPr lang="en-US" dirty="0" err="1"/>
              <a:t>especificación</a:t>
            </a:r>
            <a:r>
              <a:rPr lang="en-US" dirty="0"/>
              <a:t> </a:t>
            </a:r>
            <a:r>
              <a:rPr lang="en-US" dirty="0" err="1"/>
              <a:t>rigurosa</a:t>
            </a:r>
            <a:r>
              <a:rPr lang="en-US" dirty="0"/>
              <a:t> de la </a:t>
            </a:r>
            <a:r>
              <a:rPr lang="en-US" b="1" dirty="0" err="1"/>
              <a:t>secuencia</a:t>
            </a:r>
            <a:r>
              <a:rPr lang="en-US" b="1" dirty="0"/>
              <a:t> de </a:t>
            </a:r>
            <a:r>
              <a:rPr lang="en-US" b="1" dirty="0" err="1"/>
              <a:t>pasos</a:t>
            </a:r>
            <a:r>
              <a:rPr lang="en-US" dirty="0"/>
              <a:t> (</a:t>
            </a:r>
            <a:r>
              <a:rPr lang="en-US" dirty="0" err="1"/>
              <a:t>instrucciones</a:t>
            </a:r>
            <a:r>
              <a:rPr lang="en-US" dirty="0"/>
              <a:t>) a </a:t>
            </a:r>
            <a:r>
              <a:rPr lang="en-US" dirty="0" err="1"/>
              <a:t>realizar</a:t>
            </a:r>
            <a:r>
              <a:rPr lang="en-US" dirty="0"/>
              <a:t> para </a:t>
            </a:r>
            <a:r>
              <a:rPr lang="en-US" dirty="0" err="1"/>
              <a:t>alcanzar</a:t>
            </a:r>
            <a:r>
              <a:rPr lang="en-US" dirty="0"/>
              <a:t> un </a:t>
            </a:r>
            <a:r>
              <a:rPr lang="en-US" dirty="0" err="1"/>
              <a:t>resultado</a:t>
            </a:r>
            <a:r>
              <a:rPr lang="en-US" dirty="0"/>
              <a:t> </a:t>
            </a:r>
            <a:r>
              <a:rPr lang="en-US" dirty="0" err="1"/>
              <a:t>deseado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b="1" dirty="0" err="1"/>
              <a:t>tiempo</a:t>
            </a:r>
            <a:r>
              <a:rPr lang="en-US" b="1" dirty="0"/>
              <a:t> </a:t>
            </a:r>
            <a:r>
              <a:rPr lang="en-US" b="1" dirty="0" err="1"/>
              <a:t>finito</a:t>
            </a:r>
            <a:r>
              <a:rPr lang="en-US" dirty="0"/>
              <a:t>”. 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 err="1"/>
              <a:t>Propiedades</a:t>
            </a:r>
            <a:r>
              <a:rPr lang="en-US" dirty="0"/>
              <a:t> de un </a:t>
            </a:r>
            <a:r>
              <a:rPr lang="en-US" dirty="0" err="1"/>
              <a:t>Algoritmo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err="1"/>
              <a:t>Finito</a:t>
            </a:r>
            <a:r>
              <a:rPr lang="en-US" b="1" dirty="0"/>
              <a:t>: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terminar</a:t>
            </a:r>
            <a:r>
              <a:rPr lang="en-US" dirty="0"/>
              <a:t> </a:t>
            </a:r>
            <a:r>
              <a:rPr lang="en-US" dirty="0" err="1"/>
              <a:t>después</a:t>
            </a:r>
            <a:r>
              <a:rPr lang="en-US" dirty="0"/>
              <a:t> de un </a:t>
            </a:r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número</a:t>
            </a:r>
            <a:r>
              <a:rPr lang="en-US" dirty="0"/>
              <a:t> de </a:t>
            </a:r>
            <a:r>
              <a:rPr lang="en-US" dirty="0" err="1"/>
              <a:t>pasos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err="1"/>
              <a:t>Precisión</a:t>
            </a:r>
            <a:r>
              <a:rPr lang="en-US" b="1" dirty="0"/>
              <a:t>: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paso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rigurosamente</a:t>
            </a:r>
            <a:r>
              <a:rPr lang="en-US" dirty="0"/>
              <a:t> </a:t>
            </a:r>
            <a:r>
              <a:rPr lang="en-US" dirty="0" err="1"/>
              <a:t>definido</a:t>
            </a:r>
            <a:r>
              <a:rPr lang="en-US" u="sng" dirty="0"/>
              <a:t>. De </a:t>
            </a:r>
            <a:r>
              <a:rPr lang="en-US" u="sng" dirty="0" err="1"/>
              <a:t>manera</a:t>
            </a:r>
            <a:r>
              <a:rPr lang="en-US" u="sng" dirty="0"/>
              <a:t> no </a:t>
            </a:r>
            <a:r>
              <a:rPr lang="en-US" u="sng" dirty="0" err="1"/>
              <a:t>ambigua</a:t>
            </a:r>
            <a:r>
              <a:rPr lang="en-US" u="sng" dirty="0"/>
              <a:t>.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/>
              <a:t>Entrada: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cero o mas entradas.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/>
              <a:t>Salida: </a:t>
            </a:r>
            <a:r>
              <a:rPr lang="en-US" dirty="0"/>
              <a:t>Tiene </a:t>
            </a:r>
            <a:r>
              <a:rPr lang="en-US" dirty="0" err="1"/>
              <a:t>una</a:t>
            </a:r>
            <a:r>
              <a:rPr lang="en-US" dirty="0"/>
              <a:t> o mas </a:t>
            </a:r>
            <a:r>
              <a:rPr lang="en-US" dirty="0" err="1"/>
              <a:t>salidas</a:t>
            </a:r>
            <a:r>
              <a:rPr lang="en-US" dirty="0"/>
              <a:t>.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b="1" dirty="0" err="1"/>
              <a:t>Eficacia</a:t>
            </a:r>
            <a:r>
              <a:rPr lang="en-US" b="1" dirty="0"/>
              <a:t> y </a:t>
            </a:r>
            <a:r>
              <a:rPr lang="en-US" b="1" dirty="0" err="1"/>
              <a:t>Eficiencia</a:t>
            </a:r>
            <a:r>
              <a:rPr lang="en-US" b="1" dirty="0"/>
              <a:t>: </a:t>
            </a:r>
            <a:r>
              <a:rPr lang="en-US" dirty="0"/>
              <a:t>Se </a:t>
            </a:r>
            <a:r>
              <a:rPr lang="en-US" dirty="0" err="1"/>
              <a:t>espera</a:t>
            </a:r>
            <a:r>
              <a:rPr lang="en-US" dirty="0"/>
              <a:t> que sea </a:t>
            </a:r>
            <a:r>
              <a:rPr lang="en-US" dirty="0" err="1"/>
              <a:t>eficaz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sentido</a:t>
            </a:r>
            <a:r>
              <a:rPr lang="en-US" dirty="0"/>
              <a:t> que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operaciones</a:t>
            </a:r>
            <a:r>
              <a:rPr lang="en-US" dirty="0"/>
              <a:t> que </a:t>
            </a:r>
            <a:r>
              <a:rPr lang="en-US" dirty="0" err="1"/>
              <a:t>realice</a:t>
            </a:r>
            <a:r>
              <a:rPr lang="en-US" dirty="0"/>
              <a:t> el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puedan</a:t>
            </a:r>
            <a:r>
              <a:rPr lang="en-US" dirty="0"/>
              <a:t> </a:t>
            </a:r>
            <a:r>
              <a:rPr lang="en-US" dirty="0" err="1"/>
              <a:t>llegar</a:t>
            </a:r>
            <a:r>
              <a:rPr lang="en-US" dirty="0"/>
              <a:t> a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realizadas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hombre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lapiz</a:t>
            </a:r>
            <a:r>
              <a:rPr lang="en-US" dirty="0"/>
              <a:t> y </a:t>
            </a:r>
            <a:r>
              <a:rPr lang="en-US" dirty="0" err="1"/>
              <a:t>papel</a:t>
            </a:r>
            <a:r>
              <a:rPr lang="en-US" dirty="0"/>
              <a:t>. La </a:t>
            </a:r>
            <a:r>
              <a:rPr lang="en-US" dirty="0" err="1"/>
              <a:t>eficiencia</a:t>
            </a:r>
            <a:r>
              <a:rPr lang="en-US" dirty="0"/>
              <a:t> </a:t>
            </a:r>
            <a:r>
              <a:rPr lang="en-US" dirty="0" err="1"/>
              <a:t>dependerá</a:t>
            </a:r>
            <a:r>
              <a:rPr lang="en-US" dirty="0"/>
              <a:t> de que </a:t>
            </a:r>
            <a:r>
              <a:rPr lang="en-US" dirty="0" err="1"/>
              <a:t>queremos</a:t>
            </a:r>
            <a:r>
              <a:rPr lang="en-US" dirty="0"/>
              <a:t> “</a:t>
            </a:r>
            <a:r>
              <a:rPr lang="en-US" dirty="0" err="1"/>
              <a:t>optimizar</a:t>
            </a:r>
            <a:r>
              <a:rPr lang="en-US" dirty="0"/>
              <a:t>” (</a:t>
            </a:r>
            <a:r>
              <a:rPr lang="en-US" dirty="0" err="1"/>
              <a:t>tiempo</a:t>
            </a:r>
            <a:r>
              <a:rPr lang="en-US" dirty="0"/>
              <a:t>, </a:t>
            </a:r>
            <a:r>
              <a:rPr lang="en-US" dirty="0" err="1"/>
              <a:t>espacio</a:t>
            </a:r>
            <a:r>
              <a:rPr lang="en-US" dirty="0"/>
              <a:t>, </a:t>
            </a:r>
            <a:r>
              <a:rPr lang="en-US" dirty="0" err="1"/>
              <a:t>legibilidad</a:t>
            </a:r>
            <a:r>
              <a:rPr lang="en-US" dirty="0"/>
              <a:t>, etc.) 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5836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Qué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un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Algoritmo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? (y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qué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no lo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97881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lenguajes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un conjunto </a:t>
            </a:r>
            <a:r>
              <a:rPr lang="en-US" dirty="0" err="1"/>
              <a:t>mínimo</a:t>
            </a:r>
            <a:r>
              <a:rPr lang="en-US" dirty="0"/>
              <a:t> de </a:t>
            </a:r>
            <a:r>
              <a:rPr lang="en-US" dirty="0" err="1"/>
              <a:t>instrucciones</a:t>
            </a:r>
            <a:r>
              <a:rPr lang="en-US" dirty="0"/>
              <a:t> que </a:t>
            </a:r>
            <a:r>
              <a:rPr lang="en-US" dirty="0" err="1"/>
              <a:t>permiten</a:t>
            </a:r>
            <a:r>
              <a:rPr lang="en-US" dirty="0"/>
              <a:t> </a:t>
            </a:r>
            <a:r>
              <a:rPr lang="en-US" dirty="0" err="1"/>
              <a:t>especificar</a:t>
            </a:r>
            <a:r>
              <a:rPr lang="en-US" dirty="0"/>
              <a:t> el control </a:t>
            </a:r>
            <a:r>
              <a:rPr lang="en-US" dirty="0" err="1"/>
              <a:t>propio</a:t>
            </a:r>
            <a:r>
              <a:rPr lang="en-US" dirty="0"/>
              <a:t> del </a:t>
            </a:r>
            <a:r>
              <a:rPr lang="en-US" dirty="0" err="1"/>
              <a:t>algoritmo</a:t>
            </a:r>
            <a:r>
              <a:rPr lang="en-US" dirty="0"/>
              <a:t> que se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. Este conjunto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contener</a:t>
            </a:r>
            <a:r>
              <a:rPr lang="en-US" dirty="0"/>
              <a:t>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mínimas</a:t>
            </a:r>
            <a:r>
              <a:rPr lang="en-US" dirty="0"/>
              <a:t> de:</a:t>
            </a:r>
          </a:p>
          <a:p>
            <a:endParaRPr lang="en-US" dirty="0"/>
          </a:p>
          <a:p>
            <a:pPr algn="ctr"/>
            <a:r>
              <a:rPr lang="en-US" dirty="0"/>
              <a:t> ASIGNACION, DECISIÓN E ITERACIÓN.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516EB0-8629-DD43-84A9-A40AB2652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65" y="3081612"/>
            <a:ext cx="8172400" cy="38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0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55727" y="1678502"/>
            <a:ext cx="8880769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400" dirty="0"/>
              <a:t>• </a:t>
            </a:r>
            <a:r>
              <a:rPr lang="en-US" sz="2400" dirty="0" err="1"/>
              <a:t>Secuencia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dirty="0"/>
              <a:t>• La </a:t>
            </a:r>
            <a:r>
              <a:rPr lang="en-US" dirty="0" err="1"/>
              <a:t>estructura</a:t>
            </a:r>
            <a:r>
              <a:rPr lang="en-US" dirty="0"/>
              <a:t> de control mas simple </a:t>
            </a:r>
            <a:r>
              <a:rPr lang="en-US" dirty="0" err="1"/>
              <a:t>representada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sucesión</a:t>
            </a:r>
            <a:r>
              <a:rPr lang="en-US" dirty="0"/>
              <a:t> de </a:t>
            </a:r>
            <a:r>
              <a:rPr lang="en-US" dirty="0" err="1"/>
              <a:t>operaciones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     </a:t>
            </a:r>
            <a:r>
              <a:rPr lang="en-US" dirty="0" err="1"/>
              <a:t>Ej</a:t>
            </a:r>
            <a:r>
              <a:rPr lang="en-US" dirty="0"/>
              <a:t>: </a:t>
            </a:r>
            <a:r>
              <a:rPr lang="en-US" dirty="0" err="1"/>
              <a:t>asignación</a:t>
            </a:r>
            <a:r>
              <a:rPr lang="en-US" dirty="0"/>
              <a:t> (</a:t>
            </a:r>
            <a:r>
              <a:rPr lang="en-US" dirty="0" err="1"/>
              <a:t>almacenar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). </a:t>
            </a:r>
          </a:p>
          <a:p>
            <a:pPr>
              <a:lnSpc>
                <a:spcPct val="150000"/>
              </a:lnSpc>
            </a:pPr>
            <a:r>
              <a:rPr lang="en-US" dirty="0"/>
              <a:t>• El </a:t>
            </a:r>
            <a:r>
              <a:rPr lang="en-US" dirty="0" err="1"/>
              <a:t>orden</a:t>
            </a:r>
            <a:r>
              <a:rPr lang="en-US" dirty="0"/>
              <a:t> de </a:t>
            </a:r>
            <a:r>
              <a:rPr lang="en-US" dirty="0" err="1"/>
              <a:t>ejecución</a:t>
            </a:r>
            <a:r>
              <a:rPr lang="en-US" dirty="0"/>
              <a:t> coincide con el </a:t>
            </a:r>
            <a:r>
              <a:rPr lang="en-US" dirty="0" err="1"/>
              <a:t>orden</a:t>
            </a:r>
            <a:r>
              <a:rPr lang="en-US" dirty="0"/>
              <a:t> </a:t>
            </a:r>
            <a:r>
              <a:rPr lang="en-US" dirty="0" err="1"/>
              <a:t>físico</a:t>
            </a:r>
            <a:r>
              <a:rPr lang="en-US" dirty="0"/>
              <a:t> de la </a:t>
            </a:r>
            <a:r>
              <a:rPr lang="en-US" dirty="0" err="1"/>
              <a:t>aparición</a:t>
            </a:r>
            <a:r>
              <a:rPr lang="en-US" dirty="0"/>
              <a:t> de las </a:t>
            </a:r>
            <a:r>
              <a:rPr lang="en-US" dirty="0" err="1"/>
              <a:t>instrucciones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326F30-970B-0B42-BAA9-A1DDFEC3C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637" y="3717032"/>
            <a:ext cx="3394726" cy="28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9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55727" y="1678502"/>
            <a:ext cx="8880769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400" dirty="0"/>
              <a:t>• </a:t>
            </a:r>
            <a:r>
              <a:rPr lang="en-US" sz="2400" dirty="0" err="1"/>
              <a:t>Repetición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dirty="0"/>
              <a:t>• </a:t>
            </a:r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repetir</a:t>
            </a:r>
            <a:r>
              <a:rPr lang="en-US" dirty="0"/>
              <a:t> n </a:t>
            </a:r>
            <a:r>
              <a:rPr lang="en-US" dirty="0" err="1"/>
              <a:t>veces</a:t>
            </a:r>
            <a:r>
              <a:rPr lang="en-US" dirty="0"/>
              <a:t> un </a:t>
            </a:r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bloque</a:t>
            </a:r>
            <a:r>
              <a:rPr lang="en-US" dirty="0"/>
              <a:t> de </a:t>
            </a:r>
            <a:r>
              <a:rPr lang="en-US" dirty="0" err="1"/>
              <a:t>acciones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 • Se </a:t>
            </a:r>
            <a:r>
              <a:rPr lang="en-US" dirty="0" err="1"/>
              <a:t>considera</a:t>
            </a:r>
            <a:r>
              <a:rPr lang="en-US" dirty="0"/>
              <a:t> que el </a:t>
            </a:r>
            <a:r>
              <a:rPr lang="en-US" dirty="0" err="1"/>
              <a:t>número</a:t>
            </a:r>
            <a:r>
              <a:rPr lang="en-US" dirty="0"/>
              <a:t> de </a:t>
            </a:r>
            <a:r>
              <a:rPr lang="en-US" dirty="0" err="1"/>
              <a:t>veces</a:t>
            </a:r>
            <a:r>
              <a:rPr lang="en-US" dirty="0"/>
              <a:t> que se </a:t>
            </a:r>
            <a:r>
              <a:rPr lang="en-US" dirty="0" err="1"/>
              <a:t>deben</a:t>
            </a:r>
            <a:r>
              <a:rPr lang="en-US" dirty="0"/>
              <a:t> </a:t>
            </a:r>
            <a:r>
              <a:rPr lang="en-US" dirty="0" err="1"/>
              <a:t>ejecutar</a:t>
            </a:r>
            <a:r>
              <a:rPr lang="en-US" dirty="0"/>
              <a:t> las </a:t>
            </a:r>
            <a:r>
              <a:rPr lang="en-US" dirty="0" err="1"/>
              <a:t>acciones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fijo</a:t>
            </a:r>
            <a:r>
              <a:rPr lang="en-US" dirty="0"/>
              <a:t> y </a:t>
            </a:r>
            <a:r>
              <a:rPr lang="en-US" dirty="0" err="1"/>
              <a:t>conocido</a:t>
            </a:r>
            <a:r>
              <a:rPr lang="en-US" dirty="0"/>
              <a:t> de </a:t>
            </a:r>
            <a:r>
              <a:rPr lang="en-US" dirty="0" err="1"/>
              <a:t>antemano</a:t>
            </a:r>
            <a:r>
              <a:rPr lang="en-US" b="1" dirty="0"/>
              <a:t>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26596-0B5C-CA42-8BC6-01001DA56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573016"/>
            <a:ext cx="4231506" cy="30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21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55727" y="1678502"/>
            <a:ext cx="8880769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400" dirty="0"/>
              <a:t>• </a:t>
            </a:r>
            <a:r>
              <a:rPr lang="en-US" sz="2400" dirty="0" err="1"/>
              <a:t>Decisión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dirty="0"/>
              <a:t>•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imposible</a:t>
            </a:r>
            <a:r>
              <a:rPr lang="en-US" dirty="0"/>
              <a:t> la </a:t>
            </a:r>
            <a:r>
              <a:rPr lang="en-US" dirty="0" err="1"/>
              <a:t>representación</a:t>
            </a:r>
            <a:r>
              <a:rPr lang="en-US" dirty="0"/>
              <a:t> real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secuencial</a:t>
            </a:r>
            <a:r>
              <a:rPr lang="en-US" dirty="0"/>
              <a:t> puro. </a:t>
            </a:r>
          </a:p>
          <a:p>
            <a:pPr>
              <a:lnSpc>
                <a:spcPct val="150000"/>
              </a:lnSpc>
            </a:pPr>
            <a:r>
              <a:rPr lang="en-US" dirty="0"/>
              <a:t>• Por medio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de </a:t>
            </a:r>
            <a:r>
              <a:rPr lang="en-US" dirty="0" err="1"/>
              <a:t>decisión</a:t>
            </a:r>
            <a:r>
              <a:rPr lang="en-US" dirty="0"/>
              <a:t> </a:t>
            </a:r>
            <a:r>
              <a:rPr lang="en-US" dirty="0" err="1"/>
              <a:t>básica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optar</a:t>
            </a:r>
            <a:r>
              <a:rPr lang="en-US" dirty="0"/>
              <a:t> entre dos </a:t>
            </a:r>
            <a:r>
              <a:rPr lang="en-US" dirty="0" err="1"/>
              <a:t>alternativas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16F7E-C03B-A649-B877-2299E66A4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96" y="3248563"/>
            <a:ext cx="5382208" cy="35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4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55727" y="1678502"/>
            <a:ext cx="8880769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400" dirty="0"/>
              <a:t>• </a:t>
            </a:r>
            <a:r>
              <a:rPr lang="en-US" sz="2400" dirty="0" err="1"/>
              <a:t>Selección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dirty="0"/>
              <a:t>•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extensión</a:t>
            </a:r>
            <a:r>
              <a:rPr lang="en-US" dirty="0"/>
              <a:t> de la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básica</a:t>
            </a:r>
            <a:r>
              <a:rPr lang="en-US" dirty="0"/>
              <a:t> de </a:t>
            </a:r>
            <a:r>
              <a:rPr lang="en-US" dirty="0" err="1"/>
              <a:t>decisión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 • Se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las </a:t>
            </a:r>
            <a:r>
              <a:rPr lang="en-US" dirty="0" err="1"/>
              <a:t>alternativas</a:t>
            </a:r>
            <a:r>
              <a:rPr lang="en-US" dirty="0"/>
              <a:t> </a:t>
            </a:r>
            <a:r>
              <a:rPr lang="en-US" dirty="0" err="1"/>
              <a:t>sean</a:t>
            </a:r>
            <a:r>
              <a:rPr lang="en-US" dirty="0"/>
              <a:t> mas de dos.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0EB21-39FD-1547-812E-370FF16D3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284984"/>
            <a:ext cx="7218548" cy="33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25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155727" y="1678502"/>
            <a:ext cx="8880769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2400" dirty="0"/>
              <a:t>• </a:t>
            </a:r>
            <a:r>
              <a:rPr lang="en-US" sz="2400" dirty="0" err="1"/>
              <a:t>Iteración</a:t>
            </a:r>
            <a:r>
              <a:rPr lang="en-US" sz="2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</a:t>
            </a:r>
            <a:r>
              <a:rPr lang="en-US" dirty="0"/>
              <a:t>• </a:t>
            </a:r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repetir</a:t>
            </a:r>
            <a:r>
              <a:rPr lang="en-US" dirty="0"/>
              <a:t> un </a:t>
            </a:r>
            <a:r>
              <a:rPr lang="en-US" dirty="0" err="1"/>
              <a:t>determinado</a:t>
            </a:r>
            <a:r>
              <a:rPr lang="en-US" dirty="0"/>
              <a:t> </a:t>
            </a:r>
            <a:r>
              <a:rPr lang="en-US" dirty="0" err="1"/>
              <a:t>bloque</a:t>
            </a:r>
            <a:r>
              <a:rPr lang="en-US" dirty="0"/>
              <a:t> de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desconociendo</a:t>
            </a:r>
            <a:r>
              <a:rPr lang="en-US" dirty="0"/>
              <a:t> el </a:t>
            </a:r>
            <a:r>
              <a:rPr lang="en-US" dirty="0" err="1"/>
              <a:t>número</a:t>
            </a:r>
            <a:r>
              <a:rPr lang="en-US" dirty="0"/>
              <a:t>       </a:t>
            </a:r>
            <a:r>
              <a:rPr lang="en-US" dirty="0" err="1"/>
              <a:t>exacto</a:t>
            </a:r>
            <a:r>
              <a:rPr lang="en-US" dirty="0"/>
              <a:t> de </a:t>
            </a:r>
            <a:r>
              <a:rPr lang="en-US" dirty="0" err="1"/>
              <a:t>veces</a:t>
            </a:r>
            <a:r>
              <a:rPr lang="en-US" dirty="0"/>
              <a:t> que se </a:t>
            </a:r>
            <a:r>
              <a:rPr lang="en-US" dirty="0" err="1"/>
              <a:t>ejecuta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mayoría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lenguajes</a:t>
            </a:r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 las </a:t>
            </a:r>
            <a:r>
              <a:rPr lang="en-US" dirty="0" err="1"/>
              <a:t>instrucciones</a:t>
            </a:r>
            <a:r>
              <a:rPr lang="en-US" dirty="0"/>
              <a:t> de control </a:t>
            </a:r>
            <a:r>
              <a:rPr lang="en-US" dirty="0" err="1"/>
              <a:t>iterativas</a:t>
            </a:r>
            <a:r>
              <a:rPr lang="en-US" dirty="0"/>
              <a:t> </a:t>
            </a:r>
            <a:r>
              <a:rPr lang="en-US" dirty="0" err="1"/>
              <a:t>condicionales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Estructuras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Control: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DE60C-1D89-1642-8C9A-134B49367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645024"/>
            <a:ext cx="6084168" cy="311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41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740573" y="53781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400" b="1" u="sng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NUMEROS, CAMPOS NUMERICOS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400" b="1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Rectángulo"/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4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utoShape 4" descr="Los números rea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8" name="AutoShape 6" descr="Los números reales"/>
          <p:cNvSpPr>
            <a:spLocks noChangeAspect="1" noChangeArrowheads="1"/>
          </p:cNvSpPr>
          <p:nvPr/>
        </p:nvSpPr>
        <p:spPr bwMode="auto">
          <a:xfrm>
            <a:off x="307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grpSp>
        <p:nvGrpSpPr>
          <p:cNvPr id="6" name="5 Grupo"/>
          <p:cNvGrpSpPr/>
          <p:nvPr/>
        </p:nvGrpSpPr>
        <p:grpSpPr>
          <a:xfrm>
            <a:off x="5467399" y="2504958"/>
            <a:ext cx="2645685" cy="3417131"/>
            <a:chOff x="6017228" y="2327904"/>
            <a:chExt cx="2645685" cy="3417131"/>
          </a:xfrm>
        </p:grpSpPr>
        <p:grpSp>
          <p:nvGrpSpPr>
            <p:cNvPr id="26" name="25 Grupo"/>
            <p:cNvGrpSpPr/>
            <p:nvPr/>
          </p:nvGrpSpPr>
          <p:grpSpPr>
            <a:xfrm>
              <a:off x="6017228" y="2327904"/>
              <a:ext cx="2645685" cy="3417131"/>
              <a:chOff x="5166291" y="2038345"/>
              <a:chExt cx="2907863" cy="4732344"/>
            </a:xfrm>
          </p:grpSpPr>
          <p:sp>
            <p:nvSpPr>
              <p:cNvPr id="27" name="26 Elipse"/>
              <p:cNvSpPr/>
              <p:nvPr/>
            </p:nvSpPr>
            <p:spPr>
              <a:xfrm>
                <a:off x="5166291" y="2522218"/>
                <a:ext cx="2907863" cy="4248471"/>
              </a:xfrm>
              <a:prstGeom prst="ellipse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27 CuadroTexto"/>
                  <p:cNvSpPr txBox="1"/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27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69170" y="4089756"/>
                    <a:ext cx="60199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r="-10000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30 CuadroTexto"/>
                  <p:cNvSpPr txBox="1"/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3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12194" y="3504982"/>
                    <a:ext cx="601994" cy="461665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r="-11111"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31 CuadroTexto"/>
                  <p:cNvSpPr txBox="1"/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3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0684" y="503300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r="-10000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32 CuadroTexto"/>
                  <p:cNvSpPr txBox="1"/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3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8244" y="5593167"/>
                    <a:ext cx="1329437" cy="6393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33 CuadroTexto"/>
                  <p:cNvSpPr txBox="1"/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ℤ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3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7978" y="2038345"/>
                    <a:ext cx="601994" cy="46166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30909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41 CuadroTexto"/>
                <p:cNvSpPr txBox="1"/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−∞</m:t>
                        </m:r>
                      </m:oMath>
                    </m:oMathPara>
                  </a14:m>
                  <a:endParaRPr lang="es-AR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4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4834" y="5248112"/>
                  <a:ext cx="774934" cy="461665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3 Grupo"/>
          <p:cNvGrpSpPr/>
          <p:nvPr/>
        </p:nvGrpSpPr>
        <p:grpSpPr>
          <a:xfrm>
            <a:off x="6462471" y="2922872"/>
            <a:ext cx="1676509" cy="2610617"/>
            <a:chOff x="6861998" y="2817966"/>
            <a:chExt cx="1712152" cy="2610617"/>
          </a:xfrm>
        </p:grpSpPr>
        <p:grpSp>
          <p:nvGrpSpPr>
            <p:cNvPr id="15" name="14 Grupo"/>
            <p:cNvGrpSpPr/>
            <p:nvPr/>
          </p:nvGrpSpPr>
          <p:grpSpPr>
            <a:xfrm>
              <a:off x="6861998" y="2817966"/>
              <a:ext cx="1712152" cy="2610617"/>
              <a:chOff x="6049510" y="2571511"/>
              <a:chExt cx="1712152" cy="3791230"/>
            </a:xfrm>
          </p:grpSpPr>
          <p:sp>
            <p:nvSpPr>
              <p:cNvPr id="16" name="15 Elipse"/>
              <p:cNvSpPr/>
              <p:nvPr/>
            </p:nvSpPr>
            <p:spPr>
              <a:xfrm>
                <a:off x="6223662" y="2978365"/>
                <a:ext cx="1449605" cy="3384376"/>
              </a:xfrm>
              <a:prstGeom prst="ellipse">
                <a:avLst/>
              </a:prstGeom>
              <a:ln w="57150"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18 CuadroTexto"/>
                  <p:cNvSpPr txBox="1"/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𝟏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18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3751962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19 CuadroTexto"/>
                  <p:cNvSpPr txBox="1"/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𝟑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1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71273" y="4594767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20 CuadroTexto"/>
                  <p:cNvSpPr txBox="1"/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𝟐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2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6873" y="3996568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21 CuadroTexto"/>
                  <p:cNvSpPr txBox="1"/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𝟎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21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7870" y="3152305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22 CuadroTexto"/>
                  <p:cNvSpPr txBox="1"/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𝟒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22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7969" y="4839079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5"/>
                    <a:stretch>
                      <a:fillRect b="-38462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23 CuadroTexto"/>
                  <p:cNvSpPr txBox="1"/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23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32224" y="5252297"/>
                    <a:ext cx="1329438" cy="670446"/>
                  </a:xfrm>
                  <a:prstGeom prst="rect">
                    <a:avLst/>
                  </a:prstGeom>
                  <a:blipFill rotWithShape="1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24 CuadroTexto"/>
                  <p:cNvSpPr txBox="1"/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AR" sz="24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ℕ</m:t>
                              </m:r>
                            </m:e>
                            <m:sub>
                              <m:r>
                                <a:rPr lang="es-AR" sz="2400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es-AR" sz="2400" b="1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24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49510" y="2571511"/>
                    <a:ext cx="601994" cy="461666"/>
                  </a:xfrm>
                  <a:prstGeom prst="rect">
                    <a:avLst/>
                  </a:prstGeom>
                  <a:blipFill rotWithShape="1">
                    <a:blip r:embed="rId17"/>
                    <a:stretch>
                      <a:fillRect b="-48077"/>
                    </a:stretch>
                  </a:blipFill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42 CuadroTexto"/>
                <p:cNvSpPr txBox="1"/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1" i="1" dirty="0" smtClean="0">
                            <a:solidFill>
                              <a:schemeClr val="tx2"/>
                            </a:solidFill>
                            <a:latin typeface="Cambria Math"/>
                            <a:ea typeface="Cambria Math"/>
                          </a:rPr>
                          <m:t>+∞</m:t>
                        </m:r>
                      </m:oMath>
                    </m:oMathPara>
                  </a14:m>
                  <a:endParaRPr lang="es-AR" sz="24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4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6167" y="4907197"/>
                  <a:ext cx="774934" cy="461665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8 Grupo"/>
          <p:cNvGrpSpPr/>
          <p:nvPr/>
        </p:nvGrpSpPr>
        <p:grpSpPr>
          <a:xfrm>
            <a:off x="430537" y="1983563"/>
            <a:ext cx="8497948" cy="4757805"/>
            <a:chOff x="3995936" y="1776437"/>
            <a:chExt cx="4972819" cy="44157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45 CuadroTexto"/>
                <p:cNvSpPr txBox="1"/>
                <p:nvPr/>
              </p:nvSpPr>
              <p:spPr>
                <a:xfrm>
                  <a:off x="6517747" y="4260001"/>
                  <a:ext cx="1167681" cy="512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num>
                          <m:den>
                            <m:r>
                              <a:rPr lang="es-AR" sz="1600" b="1" i="1" dirty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ℤ</m:t>
                            </m:r>
                          </m:den>
                        </m:f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ℚ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4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7747" y="4260001"/>
                  <a:ext cx="1167681" cy="512086"/>
                </a:xfrm>
                <a:prstGeom prst="rect">
                  <a:avLst/>
                </a:prstGeom>
                <a:blipFill>
                  <a:blip r:embed="rId19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49 CuadroTexto"/>
                <p:cNvSpPr txBox="1"/>
                <p:nvPr/>
              </p:nvSpPr>
              <p:spPr>
                <a:xfrm>
                  <a:off x="6957139" y="2316370"/>
                  <a:ext cx="513811" cy="5127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49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7139" y="2316370"/>
                  <a:ext cx="513811" cy="512740"/>
                </a:xfrm>
                <a:prstGeom prst="rect">
                  <a:avLst/>
                </a:prstGeom>
                <a:blipFill>
                  <a:blip r:embed="rId20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50 CuadroTexto"/>
                <p:cNvSpPr txBox="1"/>
                <p:nvPr/>
              </p:nvSpPr>
              <p:spPr>
                <a:xfrm>
                  <a:off x="6203547" y="2464511"/>
                  <a:ext cx="727269" cy="5150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𝟏𝟐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50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547" y="2464511"/>
                  <a:ext cx="727269" cy="515061"/>
                </a:xfrm>
                <a:prstGeom prst="rect">
                  <a:avLst/>
                </a:prstGeom>
                <a:blipFill>
                  <a:blip r:embed="rId21"/>
                  <a:stretch>
                    <a:fillRect b="-2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51 CuadroTexto"/>
                <p:cNvSpPr txBox="1"/>
                <p:nvPr/>
              </p:nvSpPr>
              <p:spPr>
                <a:xfrm>
                  <a:off x="6410906" y="3451979"/>
                  <a:ext cx="374418" cy="5150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𝟑</m:t>
                            </m:r>
                          </m:den>
                        </m:f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 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51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906" y="3451979"/>
                  <a:ext cx="374418" cy="51506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52 CuadroTexto"/>
                <p:cNvSpPr txBox="1"/>
                <p:nvPr/>
              </p:nvSpPr>
              <p:spPr>
                <a:xfrm>
                  <a:off x="6707026" y="5197915"/>
                  <a:ext cx="727269" cy="5135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𝟐𝟎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52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7026" y="5197915"/>
                  <a:ext cx="727269" cy="513573"/>
                </a:xfrm>
                <a:prstGeom prst="rect">
                  <a:avLst/>
                </a:prstGeom>
                <a:blipFill>
                  <a:blip r:embed="rId23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53 CuadroTexto"/>
                <p:cNvSpPr txBox="1"/>
                <p:nvPr/>
              </p:nvSpPr>
              <p:spPr>
                <a:xfrm>
                  <a:off x="6721137" y="3096177"/>
                  <a:ext cx="380450" cy="5182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𝟓</m:t>
                            </m:r>
                          </m:num>
                          <m:den>
                            <m:r>
                              <a:rPr lang="es-AR" sz="1600" b="1" i="1" dirty="0" smtClean="0">
                                <a:solidFill>
                                  <a:srgbClr val="00B050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5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1137" y="3096177"/>
                  <a:ext cx="380450" cy="518215"/>
                </a:xfrm>
                <a:prstGeom prst="rect">
                  <a:avLst/>
                </a:prstGeom>
                <a:blipFill>
                  <a:blip r:embed="rId24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5" name="34 Grupo"/>
            <p:cNvGrpSpPr/>
            <p:nvPr/>
          </p:nvGrpSpPr>
          <p:grpSpPr>
            <a:xfrm>
              <a:off x="3995936" y="1776437"/>
              <a:ext cx="4972819" cy="4415743"/>
              <a:chOff x="5353680" y="2051586"/>
              <a:chExt cx="4063460" cy="4078341"/>
            </a:xfrm>
          </p:grpSpPr>
          <p:sp>
            <p:nvSpPr>
              <p:cNvPr id="36" name="35 Elipse"/>
              <p:cNvSpPr/>
              <p:nvPr/>
            </p:nvSpPr>
            <p:spPr>
              <a:xfrm>
                <a:off x="5353680" y="2402916"/>
                <a:ext cx="4063460" cy="3727011"/>
              </a:xfrm>
              <a:prstGeom prst="ellipse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s-AR">
                  <a:solidFill>
                    <a:srgbClr val="00B05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39 CuadroTexto"/>
                  <p:cNvSpPr txBox="1"/>
                  <p:nvPr/>
                </p:nvSpPr>
                <p:spPr>
                  <a:xfrm>
                    <a:off x="6794632" y="5514143"/>
                    <a:ext cx="72592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dirty="0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……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39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94632" y="5514143"/>
                    <a:ext cx="725924" cy="45951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40 CuadroTexto"/>
                  <p:cNvSpPr txBox="1"/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AR" sz="2400" b="1" i="1" smtClean="0">
                              <a:solidFill>
                                <a:srgbClr val="00B050"/>
                              </a:solidFill>
                              <a:latin typeface="Cambria Math"/>
                              <a:ea typeface="Cambria Math"/>
                            </a:rPr>
                            <m:t>ℚ</m:t>
                          </m:r>
                        </m:oMath>
                      </m:oMathPara>
                    </a14:m>
                    <a:endParaRPr lang="es-AR" sz="24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40 CuadroTexto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3923" y="2051586"/>
                    <a:ext cx="601994" cy="459519"/>
                  </a:xfrm>
                  <a:prstGeom prst="rect">
                    <a:avLst/>
                  </a:prstGeom>
                  <a:blipFill rotWithShape="1">
                    <a:blip r:embed="rId26"/>
                    <a:stretch>
                      <a:fillRect b="-365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s-A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43 CuadroTexto"/>
                <p:cNvSpPr txBox="1"/>
                <p:nvPr/>
              </p:nvSpPr>
              <p:spPr>
                <a:xfrm>
                  <a:off x="6166607" y="5631344"/>
                  <a:ext cx="774934" cy="3142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1600" b="1" i="1" dirty="0" smtClean="0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∞</m:t>
                        </m:r>
                      </m:oMath>
                    </m:oMathPara>
                  </a14:m>
                  <a:endParaRPr lang="es-AR" sz="16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43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6607" y="5631344"/>
                  <a:ext cx="774934" cy="31421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51 CuadroTexto">
                <a:extLst>
                  <a:ext uri="{FF2B5EF4-FFF2-40B4-BE49-F238E27FC236}">
                    <a16:creationId xmlns:a16="http://schemas.microsoft.com/office/drawing/2014/main" id="{44D2EA70-35D7-C444-9BE0-D41BE3476F2C}"/>
                  </a:ext>
                </a:extLst>
              </p:cNvPr>
              <p:cNvSpPr txBox="1"/>
              <p:nvPr/>
            </p:nvSpPr>
            <p:spPr>
              <a:xfrm>
                <a:off x="1889406" y="3024337"/>
                <a:ext cx="2002289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𝟒</m:t>
                          </m:r>
                        </m:den>
                      </m:f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9" name="51 CuadroTexto">
                <a:extLst>
                  <a:ext uri="{FF2B5EF4-FFF2-40B4-BE49-F238E27FC236}">
                    <a16:creationId xmlns:a16="http://schemas.microsoft.com/office/drawing/2014/main" id="{44D2EA70-35D7-C444-9BE0-D41BE347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406" y="3024337"/>
                <a:ext cx="2002289" cy="668516"/>
              </a:xfrm>
              <a:prstGeom prst="rect">
                <a:avLst/>
              </a:prstGeom>
              <a:blipFill>
                <a:blip r:embed="rId2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51 CuadroTexto">
                <a:extLst>
                  <a:ext uri="{FF2B5EF4-FFF2-40B4-BE49-F238E27FC236}">
                    <a16:creationId xmlns:a16="http://schemas.microsoft.com/office/drawing/2014/main" id="{506161D4-B579-5B4C-84CB-8F62A962CD27}"/>
                  </a:ext>
                </a:extLst>
              </p:cNvPr>
              <p:cNvSpPr txBox="1"/>
              <p:nvPr/>
            </p:nvSpPr>
            <p:spPr>
              <a:xfrm>
                <a:off x="1525515" y="3813737"/>
                <a:ext cx="2730070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𝟏𝟎</m:t>
                          </m:r>
                        </m:num>
                        <m:den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den>
                      </m:f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𝟑𝟑𝟑𝟑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…=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5" name="51 CuadroTexto">
                <a:extLst>
                  <a:ext uri="{FF2B5EF4-FFF2-40B4-BE49-F238E27FC236}">
                    <a16:creationId xmlns:a16="http://schemas.microsoft.com/office/drawing/2014/main" id="{506161D4-B579-5B4C-84CB-8F62A962C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5515" y="3813737"/>
                <a:ext cx="2730070" cy="670568"/>
              </a:xfrm>
              <a:prstGeom prst="rect">
                <a:avLst/>
              </a:prstGeom>
              <a:blipFill>
                <a:blip r:embed="rId29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51 CuadroTexto">
                <a:extLst>
                  <a:ext uri="{FF2B5EF4-FFF2-40B4-BE49-F238E27FC236}">
                    <a16:creationId xmlns:a16="http://schemas.microsoft.com/office/drawing/2014/main" id="{9FD93B11-05C5-7447-969A-7668F5268F63}"/>
                  </a:ext>
                </a:extLst>
              </p:cNvPr>
              <p:cNvSpPr txBox="1"/>
              <p:nvPr/>
            </p:nvSpPr>
            <p:spPr>
              <a:xfrm>
                <a:off x="1011326" y="4720397"/>
                <a:ext cx="2730070" cy="47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acc>
                    </m:oMath>
                  </m:oMathPara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6" name="51 CuadroTexto">
                <a:extLst>
                  <a:ext uri="{FF2B5EF4-FFF2-40B4-BE49-F238E27FC236}">
                    <a16:creationId xmlns:a16="http://schemas.microsoft.com/office/drawing/2014/main" id="{9FD93B11-05C5-7447-969A-7668F5268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26" y="4720397"/>
                <a:ext cx="2730070" cy="473976"/>
              </a:xfrm>
              <a:prstGeom prst="rect">
                <a:avLst/>
              </a:prstGeom>
              <a:blipFill>
                <a:blip r:embed="rId30"/>
                <a:stretch>
                  <a:fillRect l="-463" t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51 CuadroTexto">
                <a:extLst>
                  <a:ext uri="{FF2B5EF4-FFF2-40B4-BE49-F238E27FC236}">
                    <a16:creationId xmlns:a16="http://schemas.microsoft.com/office/drawing/2014/main" id="{ABEA0A11-5D09-2249-88A1-CF25C1B34493}"/>
                  </a:ext>
                </a:extLst>
              </p:cNvPr>
              <p:cNvSpPr txBox="1"/>
              <p:nvPr/>
            </p:nvSpPr>
            <p:spPr>
              <a:xfrm>
                <a:off x="1841930" y="5404320"/>
                <a:ext cx="2730070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𝟎𝟎𝟒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𝟏𝟗𝟖𝟑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7" name="51 CuadroTexto">
                <a:extLst>
                  <a:ext uri="{FF2B5EF4-FFF2-40B4-BE49-F238E27FC236}">
                    <a16:creationId xmlns:a16="http://schemas.microsoft.com/office/drawing/2014/main" id="{ABEA0A11-5D09-2249-88A1-CF25C1B34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930" y="5404320"/>
                <a:ext cx="2730070" cy="408445"/>
              </a:xfrm>
              <a:prstGeom prst="rect">
                <a:avLst/>
              </a:prstGeom>
              <a:blipFill>
                <a:blip r:embed="rId31"/>
                <a:stretch>
                  <a:fillRect t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51 CuadroTexto">
                <a:extLst>
                  <a:ext uri="{FF2B5EF4-FFF2-40B4-BE49-F238E27FC236}">
                    <a16:creationId xmlns:a16="http://schemas.microsoft.com/office/drawing/2014/main" id="{0940EE67-33C1-5545-BB0E-F238AAEE9123}"/>
                  </a:ext>
                </a:extLst>
              </p:cNvPr>
              <p:cNvSpPr txBox="1"/>
              <p:nvPr/>
            </p:nvSpPr>
            <p:spPr>
              <a:xfrm>
                <a:off x="2655357" y="4730148"/>
                <a:ext cx="2730070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̂"/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𝟕𝟒</m:t>
                          </m:r>
                        </m:e>
                      </m:acc>
                    </m:oMath>
                  </m:oMathPara>
                </a14:m>
                <a:endParaRPr lang="es-AR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8" name="51 CuadroTexto">
                <a:extLst>
                  <a:ext uri="{FF2B5EF4-FFF2-40B4-BE49-F238E27FC236}">
                    <a16:creationId xmlns:a16="http://schemas.microsoft.com/office/drawing/2014/main" id="{0940EE67-33C1-5545-BB0E-F238AAEE9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57" y="4730148"/>
                <a:ext cx="2730070" cy="40844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3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3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/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𝟐𝟒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blipFill>
                <a:blip r:embed="rId4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3B4E48-3B8F-7B42-9FD7-C7CCBF7777FC}"/>
              </a:ext>
            </a:extLst>
          </p:cNvPr>
          <p:cNvSpPr txBox="1"/>
          <p:nvPr/>
        </p:nvSpPr>
        <p:spPr>
          <a:xfrm>
            <a:off x="2775408" y="265771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</a:t>
            </a:r>
            <a:r>
              <a:rPr lang="en-US" dirty="0" err="1"/>
              <a:t>dividido</a:t>
            </a:r>
            <a:r>
              <a:rPr lang="en-US" dirty="0"/>
              <a:t>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/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𝟒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𝟖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/>
              <p:nvPr/>
            </p:nvSpPr>
            <p:spPr>
              <a:xfrm>
                <a:off x="755575" y="3645024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𝟖𝟑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𝟒𝟔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3645024"/>
                <a:ext cx="1242815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D87C128-E085-1D45-8DD3-9EFCF712BF8B}"/>
              </a:ext>
            </a:extLst>
          </p:cNvPr>
          <p:cNvSpPr txBox="1"/>
          <p:nvPr/>
        </p:nvSpPr>
        <p:spPr>
          <a:xfrm>
            <a:off x="2717405" y="3645024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8346 </a:t>
            </a:r>
            <a:r>
              <a:rPr lang="en-US" dirty="0" err="1"/>
              <a:t>dividido</a:t>
            </a:r>
            <a:r>
              <a:rPr lang="en-US" dirty="0"/>
              <a:t>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/>
              <p:nvPr/>
            </p:nvSpPr>
            <p:spPr>
              <a:xfrm>
                <a:off x="5925783" y="3552210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𝟖𝟑𝟒𝟔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𝟏𝟎𝟎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5783" y="3552210"/>
                <a:ext cx="1242815" cy="554960"/>
              </a:xfrm>
              <a:prstGeom prst="rect">
                <a:avLst/>
              </a:prstGeom>
              <a:blipFill>
                <a:blip r:embed="rId7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BE2866D1-1A2C-1143-ADFA-24768137EED2}"/>
              </a:ext>
            </a:extLst>
          </p:cNvPr>
          <p:cNvSpPr/>
          <p:nvPr/>
        </p:nvSpPr>
        <p:spPr>
          <a:xfrm>
            <a:off x="4067944" y="3645024"/>
            <a:ext cx="432048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97FE70-5905-6D4A-BEE8-2EC36BBD5C1C}"/>
              </a:ext>
            </a:extLst>
          </p:cNvPr>
          <p:cNvSpPr/>
          <p:nvPr/>
        </p:nvSpPr>
        <p:spPr>
          <a:xfrm>
            <a:off x="1152808" y="3645024"/>
            <a:ext cx="432048" cy="36933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209C05CF-C138-6640-AE47-1E389D06C1E7}"/>
              </a:ext>
            </a:extLst>
          </p:cNvPr>
          <p:cNvCxnSpPr>
            <a:cxnSpLocks/>
            <a:stCxn id="4" idx="4"/>
            <a:endCxn id="15" idx="4"/>
          </p:cNvCxnSpPr>
          <p:nvPr/>
        </p:nvCxnSpPr>
        <p:spPr>
          <a:xfrm rot="5400000">
            <a:off x="2826400" y="2556788"/>
            <a:ext cx="12700" cy="2915136"/>
          </a:xfrm>
          <a:prstGeom prst="curved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2273C1-B391-394A-9A52-2AD601458671}"/>
              </a:ext>
            </a:extLst>
          </p:cNvPr>
          <p:cNvSpPr txBox="1"/>
          <p:nvPr/>
        </p:nvSpPr>
        <p:spPr>
          <a:xfrm>
            <a:off x="1998390" y="4232220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 </a:t>
            </a:r>
            <a:r>
              <a:rPr lang="en-US" dirty="0" err="1">
                <a:solidFill>
                  <a:schemeClr val="accent1"/>
                </a:solidFill>
              </a:rPr>
              <a:t>cifras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decimales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595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/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A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Números periodicos</a:t>
                </a:r>
              </a:p>
              <a:p>
                <a:r>
                  <a:rPr lang="es-AR" dirty="0">
                    <a:latin typeface="Arial" pitchFamily="34" charset="0"/>
                    <a:cs typeface="Arial" pitchFamily="34" charset="0"/>
                  </a:rPr>
                  <a:t> </a:t>
                </a:r>
              </a:p>
              <a:p>
                <a:r>
                  <a:rPr lang="es-AR" sz="24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Conjunto de RACIONALES </a:t>
                </a:r>
                <a14:m>
                  <m:oMath xmlns:m="http://schemas.openxmlformats.org/officeDocument/2006/math">
                    <m:r>
                      <a:rPr lang="es-AR" sz="2800" b="1" i="1" dirty="0" smtClean="0">
                        <a:latin typeface="Cambria Math"/>
                        <a:ea typeface="Cambria Math"/>
                      </a:rPr>
                      <m:t>ℚ</m:t>
                    </m:r>
                  </m:oMath>
                </a14:m>
                <a:r>
                  <a:rPr lang="es-AR" sz="2800" dirty="0">
                    <a:solidFill>
                      <a:srgbClr val="000000"/>
                    </a:solidFill>
                    <a:latin typeface="Arial" pitchFamily="34" charset="0"/>
                    <a:ea typeface="AGaramondPro-Regular" charset="-128"/>
                    <a:cs typeface="Arial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4 Rectángulo">
                <a:extLst>
                  <a:ext uri="{FF2B5EF4-FFF2-40B4-BE49-F238E27FC236}">
                    <a16:creationId xmlns:a16="http://schemas.microsoft.com/office/drawing/2014/main" id="{CB1C6E9C-6490-ED4E-A435-A382B4ABD1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17" y="1196754"/>
                <a:ext cx="8712968" cy="1077218"/>
              </a:xfrm>
              <a:prstGeom prst="rect">
                <a:avLst/>
              </a:prstGeom>
              <a:blipFill>
                <a:blip r:embed="rId3"/>
                <a:stretch>
                  <a:fillRect l="-1019" t="-1163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/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50 CuadroTexto">
                <a:extLst>
                  <a:ext uri="{FF2B5EF4-FFF2-40B4-BE49-F238E27FC236}">
                    <a16:creationId xmlns:a16="http://schemas.microsoft.com/office/drawing/2014/main" id="{C4592361-0F12-AD4D-B0C8-6927A8D7C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64904"/>
                <a:ext cx="1242815" cy="554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83B4E48-3B8F-7B42-9FD7-C7CCBF7777FC}"/>
              </a:ext>
            </a:extLst>
          </p:cNvPr>
          <p:cNvSpPr txBox="1"/>
          <p:nvPr/>
        </p:nvSpPr>
        <p:spPr>
          <a:xfrm>
            <a:off x="2775408" y="265771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</a:t>
            </a:r>
            <a:r>
              <a:rPr lang="en-US" dirty="0" err="1"/>
              <a:t>dividido</a:t>
            </a:r>
            <a:r>
              <a:rPr lang="en-US" dirty="0"/>
              <a:t>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/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𝟎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𝟑𝟑𝟑𝟑𝟑𝟑</m:t>
                      </m:r>
                      <m:r>
                        <a:rPr lang="en-US" sz="16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…</m:t>
                      </m:r>
                    </m:oMath>
                  </m:oMathPara>
                </a14:m>
                <a:endParaRPr lang="es-AR" sz="16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50 CuadroTexto">
                <a:extLst>
                  <a:ext uri="{FF2B5EF4-FFF2-40B4-BE49-F238E27FC236}">
                    <a16:creationId xmlns:a16="http://schemas.microsoft.com/office/drawing/2014/main" id="{2188E6C4-FDD2-834F-B6FB-2304C28E8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657718"/>
                <a:ext cx="1242815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/>
              <p:nvPr/>
            </p:nvSpPr>
            <p:spPr>
              <a:xfrm>
                <a:off x="755575" y="3645024"/>
                <a:ext cx="1242815" cy="481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𝟐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,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𝟎𝟎𝟑</m:t>
                    </m:r>
                    <m:acc>
                      <m:accPr>
                        <m:chr m:val="̂"/>
                        <m:ctrlP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𝟓𝟕</m:t>
                        </m:r>
                      </m:e>
                    </m:acc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es-AR" sz="2400" b="1" dirty="0">
                    <a:solidFill>
                      <a:srgbClr val="00B05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50 CuadroTexto">
                <a:extLst>
                  <a:ext uri="{FF2B5EF4-FFF2-40B4-BE49-F238E27FC236}">
                    <a16:creationId xmlns:a16="http://schemas.microsoft.com/office/drawing/2014/main" id="{16C89366-9CC0-FA47-A513-7322A5F3D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3645024"/>
                <a:ext cx="1242815" cy="481222"/>
              </a:xfrm>
              <a:prstGeom prst="rect">
                <a:avLst/>
              </a:prstGeom>
              <a:blipFill>
                <a:blip r:embed="rId6"/>
                <a:stretch>
                  <a:fillRect t="-7692" r="-34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/>
              <p:nvPr/>
            </p:nvSpPr>
            <p:spPr>
              <a:xfrm>
                <a:off x="2726455" y="3520662"/>
                <a:ext cx="1242815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𝟐𝟎𝟎𝟑𝟓𝟕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−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𝟐𝟎𝟎𝟑</m:t>
                          </m:r>
                        </m:num>
                        <m:den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𝟗𝟗𝟎𝟎𝟎</m:t>
                          </m:r>
                        </m:den>
                      </m:f>
                    </m:oMath>
                  </m:oMathPara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50 CuadroTexto">
                <a:extLst>
                  <a:ext uri="{FF2B5EF4-FFF2-40B4-BE49-F238E27FC236}">
                    <a16:creationId xmlns:a16="http://schemas.microsoft.com/office/drawing/2014/main" id="{7E3CCE96-519B-B547-AFA8-C706D9C8B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455" y="3520662"/>
                <a:ext cx="1242815" cy="793679"/>
              </a:xfrm>
              <a:prstGeom prst="rect">
                <a:avLst/>
              </a:prstGeom>
              <a:blipFill>
                <a:blip r:embed="rId7"/>
                <a:stretch>
                  <a:fillRect l="-1010" t="-1563" r="-94949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620ACC95-4CA9-4149-950F-750A0EDB21A7}"/>
              </a:ext>
            </a:extLst>
          </p:cNvPr>
          <p:cNvSpPr/>
          <p:nvPr/>
        </p:nvSpPr>
        <p:spPr>
          <a:xfrm>
            <a:off x="3366475" y="4032425"/>
            <a:ext cx="485445" cy="2413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4F5F1B-8FA0-C041-8685-A48BC5D1BF98}"/>
              </a:ext>
            </a:extLst>
          </p:cNvPr>
          <p:cNvSpPr/>
          <p:nvPr/>
        </p:nvSpPr>
        <p:spPr>
          <a:xfrm>
            <a:off x="3818372" y="4014139"/>
            <a:ext cx="681620" cy="3002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01A7045-0A17-CA48-9F75-EA25404F9265}"/>
              </a:ext>
            </a:extLst>
          </p:cNvPr>
          <p:cNvSpPr/>
          <p:nvPr/>
        </p:nvSpPr>
        <p:spPr>
          <a:xfrm>
            <a:off x="1043608" y="3697293"/>
            <a:ext cx="620560" cy="3783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825CEF-2208-6349-AB9A-D4FDF8609073}"/>
              </a:ext>
            </a:extLst>
          </p:cNvPr>
          <p:cNvSpPr/>
          <p:nvPr/>
        </p:nvSpPr>
        <p:spPr>
          <a:xfrm>
            <a:off x="1644843" y="3645024"/>
            <a:ext cx="411225" cy="4812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B4CF1B97-9F0D-9945-A4E0-5736247F7747}"/>
              </a:ext>
            </a:extLst>
          </p:cNvPr>
          <p:cNvCxnSpPr>
            <a:cxnSpLocks/>
            <a:stCxn id="16" idx="4"/>
            <a:endCxn id="21" idx="4"/>
          </p:cNvCxnSpPr>
          <p:nvPr/>
        </p:nvCxnSpPr>
        <p:spPr>
          <a:xfrm rot="5400000" flipH="1">
            <a:off x="2656080" y="3320622"/>
            <a:ext cx="147494" cy="1758742"/>
          </a:xfrm>
          <a:prstGeom prst="curvedConnector3">
            <a:avLst>
              <a:gd name="adj1" fmla="val -15498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3AF30796-B934-6741-9ECE-87C167F568D7}"/>
              </a:ext>
            </a:extLst>
          </p:cNvPr>
          <p:cNvCxnSpPr>
            <a:cxnSpLocks/>
            <a:stCxn id="18" idx="4"/>
            <a:endCxn id="20" idx="4"/>
          </p:cNvCxnSpPr>
          <p:nvPr/>
        </p:nvCxnSpPr>
        <p:spPr>
          <a:xfrm rot="5400000" flipH="1">
            <a:off x="2637175" y="2792335"/>
            <a:ext cx="238719" cy="2805294"/>
          </a:xfrm>
          <a:prstGeom prst="curvedConnector3">
            <a:avLst>
              <a:gd name="adj1" fmla="val -9576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50 CuadroTexto">
                <a:extLst>
                  <a:ext uri="{FF2B5EF4-FFF2-40B4-BE49-F238E27FC236}">
                    <a16:creationId xmlns:a16="http://schemas.microsoft.com/office/drawing/2014/main" id="{0586F512-63A5-564E-B375-6A7D6E4ED971}"/>
                  </a:ext>
                </a:extLst>
              </p:cNvPr>
              <p:cNvSpPr txBox="1"/>
              <p:nvPr/>
            </p:nvSpPr>
            <p:spPr>
              <a:xfrm>
                <a:off x="5940151" y="3520662"/>
                <a:ext cx="2592289" cy="631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2400" b="1" dirty="0">
                    <a:solidFill>
                      <a:schemeClr val="tx1"/>
                    </a:solidFill>
                    <a:ea typeface="Cambria Math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𝟏𝟗𝟖𝟑𝟓𝟒</m:t>
                        </m:r>
                      </m:num>
                      <m:den>
                        <m:r>
                          <a:rPr lang="en-US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𝟗𝟗𝟎𝟎𝟎</m:t>
                        </m:r>
                      </m:den>
                    </m:f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sz="24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𝟑𝟑𝟎𝟓𝟗</m:t>
                        </m:r>
                      </m:num>
                      <m:den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𝟏𝟔𝟓𝟎𝟎</m:t>
                        </m:r>
                      </m:den>
                    </m:f>
                  </m:oMath>
                </a14:m>
                <a:endParaRPr lang="es-AR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50 CuadroTexto">
                <a:extLst>
                  <a:ext uri="{FF2B5EF4-FFF2-40B4-BE49-F238E27FC236}">
                    <a16:creationId xmlns:a16="http://schemas.microsoft.com/office/drawing/2014/main" id="{0586F512-63A5-564E-B375-6A7D6E4ED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1" y="3520662"/>
                <a:ext cx="2592289" cy="631263"/>
              </a:xfrm>
              <a:prstGeom prst="rect">
                <a:avLst/>
              </a:prstGeom>
              <a:blipFill>
                <a:blip r:embed="rId8"/>
                <a:stretch>
                  <a:fillRect l="-3922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50 CuadroTexto">
                <a:extLst>
                  <a:ext uri="{FF2B5EF4-FFF2-40B4-BE49-F238E27FC236}">
                    <a16:creationId xmlns:a16="http://schemas.microsoft.com/office/drawing/2014/main" id="{56A5354A-711B-9742-9126-66F19417EE64}"/>
                  </a:ext>
                </a:extLst>
              </p:cNvPr>
              <p:cNvSpPr txBox="1"/>
              <p:nvPr/>
            </p:nvSpPr>
            <p:spPr>
              <a:xfrm>
                <a:off x="2810631" y="5431867"/>
                <a:ext cx="592553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e>
                    </m:acc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es-AR" sz="2800" b="1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AR" sz="28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𝟎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s-AR" sz="2800" b="1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num>
                      <m:den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/>
                          </a:rPr>
                          <m:t>𝟗</m:t>
                        </m:r>
                      </m:den>
                    </m:f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/>
                      </a:rPr>
                      <m:t>𝟏</m:t>
                    </m:r>
                  </m:oMath>
                </a14:m>
                <a:endParaRPr lang="es-AR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5" name="50 CuadroTexto">
                <a:extLst>
                  <a:ext uri="{FF2B5EF4-FFF2-40B4-BE49-F238E27FC236}">
                    <a16:creationId xmlns:a16="http://schemas.microsoft.com/office/drawing/2014/main" id="{56A5354A-711B-9742-9126-66F19417E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631" y="5431867"/>
                <a:ext cx="5925531" cy="714683"/>
              </a:xfrm>
              <a:prstGeom prst="rect">
                <a:avLst/>
              </a:prstGeom>
              <a:blipFill>
                <a:blip r:embed="rId9"/>
                <a:stretch>
                  <a:fillRect l="-427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1105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717</Words>
  <Application>Microsoft Macintosh PowerPoint</Application>
  <PresentationFormat>On-screen Show (4:3)</PresentationFormat>
  <Paragraphs>137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AGaramondPro-Regular</vt:lpstr>
      <vt:lpstr>Arial</vt:lpstr>
      <vt:lpstr>Arial Black</vt:lpstr>
      <vt:lpstr>Calibri</vt:lpstr>
      <vt:lpstr>Calibri Light</vt:lpstr>
      <vt:lpstr>Cambria Math</vt:lpstr>
      <vt:lpstr>Helvetica</vt:lpstr>
      <vt:lpstr>Open Sans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76</cp:revision>
  <dcterms:created xsi:type="dcterms:W3CDTF">2020-04-01T12:31:54Z</dcterms:created>
  <dcterms:modified xsi:type="dcterms:W3CDTF">2022-04-19T20:37:38Z</dcterms:modified>
</cp:coreProperties>
</file>